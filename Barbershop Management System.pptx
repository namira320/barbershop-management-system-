
<file path=[Content_Types].xml><?xml version="1.0" encoding="utf-8"?>
<Types xmlns="http://schemas.openxmlformats.org/package/2006/content-types">
  <Default ContentType="application/x-fontdata" Extension="fntdata"/>
  <Default ContentType="image/gif" Extension="gif"/>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ibre Franklin Bold" charset="1" panose="00000800000000000000"/>
      <p:regular r:id="rId14"/>
    </p:embeddedFont>
    <p:embeddedFont>
      <p:font typeface="Libre Franklin Light" charset="1" panose="00000400000000000000"/>
      <p:regular r:id="rId15"/>
    </p:embeddedFont>
    <p:embeddedFont>
      <p:font typeface="Libre Franklin"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 Id="rId4" Target="../media/image3.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gif"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gif"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10.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6D2A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530486">
            <a:off x="12716303" y="8903329"/>
            <a:ext cx="6338651" cy="2767342"/>
          </a:xfrm>
          <a:prstGeom prst="rect">
            <a:avLst/>
          </a:prstGeom>
        </p:spPr>
      </p:pic>
      <p:grpSp>
        <p:nvGrpSpPr>
          <p:cNvPr name="Group 3" id="3"/>
          <p:cNvGrpSpPr/>
          <p:nvPr/>
        </p:nvGrpSpPr>
        <p:grpSpPr>
          <a:xfrm rot="0">
            <a:off x="2269543" y="2342639"/>
            <a:ext cx="13748914" cy="4595706"/>
            <a:chOff x="0" y="0"/>
            <a:chExt cx="18331885" cy="6127608"/>
          </a:xfrm>
        </p:grpSpPr>
        <p:sp>
          <p:nvSpPr>
            <p:cNvPr name="TextBox 4" id="4"/>
            <p:cNvSpPr txBox="true"/>
            <p:nvPr/>
          </p:nvSpPr>
          <p:spPr>
            <a:xfrm rot="0">
              <a:off x="0" y="2581380"/>
              <a:ext cx="18331885" cy="2329015"/>
            </a:xfrm>
            <a:prstGeom prst="rect">
              <a:avLst/>
            </a:prstGeom>
          </p:spPr>
          <p:txBody>
            <a:bodyPr anchor="t" rtlCol="false" tIns="0" lIns="0" bIns="0" rIns="0">
              <a:spAutoFit/>
            </a:bodyPr>
            <a:lstStyle/>
            <a:p>
              <a:pPr algn="ctr">
                <a:lnSpc>
                  <a:spcPts val="13200"/>
                </a:lnSpc>
              </a:pPr>
              <a:r>
                <a:rPr lang="en-US" sz="11999" b="true">
                  <a:solidFill>
                    <a:srgbClr val="FFFFFF"/>
                  </a:solidFill>
                  <a:latin typeface="Libre Franklin Bold"/>
                  <a:ea typeface="Libre Franklin Bold"/>
                  <a:cs typeface="Libre Franklin Bold"/>
                  <a:sym typeface="Libre Franklin Bold"/>
                </a:rPr>
                <a:t> </a:t>
              </a:r>
              <a:r>
                <a:rPr lang="en-US" sz="11999" b="true">
                  <a:solidFill>
                    <a:srgbClr val="3B426B"/>
                  </a:solidFill>
                  <a:latin typeface="Libre Franklin Bold"/>
                  <a:ea typeface="Libre Franklin Bold"/>
                  <a:cs typeface="Libre Franklin Bold"/>
                  <a:sym typeface="Libre Franklin Bold"/>
                </a:rPr>
                <a:t>Barbershop</a:t>
              </a:r>
            </a:p>
          </p:txBody>
        </p:sp>
        <p:sp>
          <p:nvSpPr>
            <p:cNvPr name="TextBox 5" id="5"/>
            <p:cNvSpPr txBox="true"/>
            <p:nvPr/>
          </p:nvSpPr>
          <p:spPr>
            <a:xfrm rot="0">
              <a:off x="0" y="5425776"/>
              <a:ext cx="18331885" cy="701832"/>
            </a:xfrm>
            <a:prstGeom prst="rect">
              <a:avLst/>
            </a:prstGeom>
          </p:spPr>
          <p:txBody>
            <a:bodyPr anchor="t" rtlCol="false" tIns="0" lIns="0" bIns="0" rIns="0">
              <a:spAutoFit/>
            </a:bodyPr>
            <a:lstStyle/>
            <a:p>
              <a:pPr algn="ctr">
                <a:lnSpc>
                  <a:spcPts val="4479"/>
                </a:lnSpc>
                <a:spcBef>
                  <a:spcPct val="0"/>
                </a:spcBef>
              </a:pPr>
              <a:r>
                <a:rPr lang="en-US" sz="3199">
                  <a:solidFill>
                    <a:srgbClr val="FFFFFF"/>
                  </a:solidFill>
                  <a:latin typeface="Libre Franklin Light"/>
                  <a:ea typeface="Libre Franklin Light"/>
                  <a:cs typeface="Libre Franklin Light"/>
                  <a:sym typeface="Libre Franklin Light"/>
                </a:rPr>
                <a:t>By group 10</a:t>
              </a:r>
            </a:p>
          </p:txBody>
        </p:sp>
        <p:pic>
          <p:nvPicPr>
            <p:cNvPr name="Picture 6" id="6"/>
            <p:cNvPicPr>
              <a:picLocks noChangeAspect="true"/>
            </p:cNvPicPr>
            <p:nvPr/>
          </p:nvPicPr>
          <p:blipFill>
            <a:blip r:embed="rId3"/>
            <a:srcRect l="0" t="0" r="0" b="0"/>
            <a:stretch>
              <a:fillRect/>
            </a:stretch>
          </p:blipFill>
          <p:spPr>
            <a:xfrm flipH="false" flipV="false" rot="0">
              <a:off x="7530916" y="0"/>
              <a:ext cx="3270053" cy="1905385"/>
            </a:xfrm>
            <a:prstGeom prst="rect">
              <a:avLst/>
            </a:prstGeom>
          </p:spPr>
        </p:pic>
      </p:grpSp>
      <p:pic>
        <p:nvPicPr>
          <p:cNvPr name="Picture 7" id="7"/>
          <p:cNvPicPr>
            <a:picLocks noChangeAspect="true"/>
          </p:cNvPicPr>
          <p:nvPr/>
        </p:nvPicPr>
        <p:blipFill>
          <a:blip r:embed="rId4"/>
          <a:srcRect l="0" t="0" r="0" b="0"/>
          <a:stretch>
            <a:fillRect/>
          </a:stretch>
        </p:blipFill>
        <p:spPr>
          <a:xfrm flipH="false" flipV="false" rot="0">
            <a:off x="-455080" y="-276709"/>
            <a:ext cx="5985947" cy="1005958"/>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B426B"/>
        </a:solidFill>
      </p:bgPr>
    </p:bg>
    <p:spTree>
      <p:nvGrpSpPr>
        <p:cNvPr id="1" name=""/>
        <p:cNvGrpSpPr/>
        <p:nvPr/>
      </p:nvGrpSpPr>
      <p:grpSpPr>
        <a:xfrm>
          <a:off x="0" y="0"/>
          <a:ext cx="0" cy="0"/>
          <a:chOff x="0" y="0"/>
          <a:chExt cx="0" cy="0"/>
        </a:xfrm>
      </p:grpSpPr>
      <p:grpSp>
        <p:nvGrpSpPr>
          <p:cNvPr name="Group 2" id="2"/>
          <p:cNvGrpSpPr/>
          <p:nvPr/>
        </p:nvGrpSpPr>
        <p:grpSpPr>
          <a:xfrm rot="0">
            <a:off x="375222" y="248742"/>
            <a:ext cx="9852941" cy="2216688"/>
            <a:chOff x="0" y="0"/>
            <a:chExt cx="13137254" cy="2955584"/>
          </a:xfrm>
        </p:grpSpPr>
        <p:sp>
          <p:nvSpPr>
            <p:cNvPr name="TextBox 3" id="3"/>
            <p:cNvSpPr txBox="true"/>
            <p:nvPr/>
          </p:nvSpPr>
          <p:spPr>
            <a:xfrm rot="0">
              <a:off x="0" y="0"/>
              <a:ext cx="13137254" cy="1784472"/>
            </a:xfrm>
            <a:prstGeom prst="rect">
              <a:avLst/>
            </a:prstGeom>
          </p:spPr>
          <p:txBody>
            <a:bodyPr anchor="t" rtlCol="false" tIns="0" lIns="0" bIns="0" rIns="0">
              <a:spAutoFit/>
            </a:bodyPr>
            <a:lstStyle/>
            <a:p>
              <a:pPr algn="l">
                <a:lnSpc>
                  <a:spcPts val="10559"/>
                </a:lnSpc>
              </a:pPr>
              <a:r>
                <a:rPr lang="en-US" sz="8799" b="true">
                  <a:solidFill>
                    <a:srgbClr val="76D2AD"/>
                  </a:solidFill>
                  <a:latin typeface="Libre Franklin Bold"/>
                  <a:ea typeface="Libre Franklin Bold"/>
                  <a:cs typeface="Libre Franklin Bold"/>
                  <a:sym typeface="Libre Franklin Bold"/>
                </a:rPr>
                <a:t>Member </a:t>
              </a:r>
            </a:p>
          </p:txBody>
        </p:sp>
        <p:pic>
          <p:nvPicPr>
            <p:cNvPr name="Picture 4" id="4"/>
            <p:cNvPicPr>
              <a:picLocks noChangeAspect="true"/>
            </p:cNvPicPr>
            <p:nvPr/>
          </p:nvPicPr>
          <p:blipFill>
            <a:blip r:embed="rId2"/>
            <a:srcRect l="0" t="0" r="0" b="0"/>
            <a:stretch>
              <a:fillRect/>
            </a:stretch>
          </p:blipFill>
          <p:spPr>
            <a:xfrm flipH="false" flipV="false" rot="0">
              <a:off x="0" y="1837801"/>
              <a:ext cx="5961511" cy="1117783"/>
            </a:xfrm>
            <a:prstGeom prst="rect">
              <a:avLst/>
            </a:prstGeom>
          </p:spPr>
        </p:pic>
      </p:grpSp>
      <p:sp>
        <p:nvSpPr>
          <p:cNvPr name="Freeform 5" id="5"/>
          <p:cNvSpPr/>
          <p:nvPr/>
        </p:nvSpPr>
        <p:spPr>
          <a:xfrm flipH="false" flipV="false" rot="0">
            <a:off x="1197340" y="3104174"/>
            <a:ext cx="3252579" cy="4878869"/>
          </a:xfrm>
          <a:custGeom>
            <a:avLst/>
            <a:gdLst/>
            <a:ahLst/>
            <a:cxnLst/>
            <a:rect r="r" b="b" t="t" l="l"/>
            <a:pathLst>
              <a:path h="4878869" w="3252579">
                <a:moveTo>
                  <a:pt x="0" y="0"/>
                </a:moveTo>
                <a:lnTo>
                  <a:pt x="3252579" y="0"/>
                </a:lnTo>
                <a:lnTo>
                  <a:pt x="3252579" y="4878868"/>
                </a:lnTo>
                <a:lnTo>
                  <a:pt x="0" y="4878868"/>
                </a:lnTo>
                <a:lnTo>
                  <a:pt x="0" y="0"/>
                </a:lnTo>
                <a:close/>
              </a:path>
            </a:pathLst>
          </a:custGeom>
          <a:blipFill>
            <a:blip r:embed="rId3"/>
            <a:stretch>
              <a:fillRect l="0" t="0" r="0" b="0"/>
            </a:stretch>
          </a:blipFill>
        </p:spPr>
      </p:sp>
      <p:sp>
        <p:nvSpPr>
          <p:cNvPr name="Freeform 6" id="6"/>
          <p:cNvSpPr/>
          <p:nvPr/>
        </p:nvSpPr>
        <p:spPr>
          <a:xfrm flipH="false" flipV="false" rot="0">
            <a:off x="12222815" y="3012099"/>
            <a:ext cx="3370585" cy="5063019"/>
          </a:xfrm>
          <a:custGeom>
            <a:avLst/>
            <a:gdLst/>
            <a:ahLst/>
            <a:cxnLst/>
            <a:rect r="r" b="b" t="t" l="l"/>
            <a:pathLst>
              <a:path h="5063019" w="3370585">
                <a:moveTo>
                  <a:pt x="0" y="0"/>
                </a:moveTo>
                <a:lnTo>
                  <a:pt x="3370585" y="0"/>
                </a:lnTo>
                <a:lnTo>
                  <a:pt x="3370585" y="5063018"/>
                </a:lnTo>
                <a:lnTo>
                  <a:pt x="0" y="5063018"/>
                </a:lnTo>
                <a:lnTo>
                  <a:pt x="0" y="0"/>
                </a:lnTo>
                <a:close/>
              </a:path>
            </a:pathLst>
          </a:custGeom>
          <a:blipFill>
            <a:blip r:embed="rId4"/>
            <a:stretch>
              <a:fillRect l="0" t="0" r="0" b="0"/>
            </a:stretch>
          </a:blipFill>
        </p:spPr>
      </p:sp>
      <p:sp>
        <p:nvSpPr>
          <p:cNvPr name="Freeform 7" id="7"/>
          <p:cNvSpPr/>
          <p:nvPr/>
        </p:nvSpPr>
        <p:spPr>
          <a:xfrm flipH="false" flipV="false" rot="0">
            <a:off x="6508473" y="3012099"/>
            <a:ext cx="3251161" cy="4843442"/>
          </a:xfrm>
          <a:custGeom>
            <a:avLst/>
            <a:gdLst/>
            <a:ahLst/>
            <a:cxnLst/>
            <a:rect r="r" b="b" t="t" l="l"/>
            <a:pathLst>
              <a:path h="4843442" w="3251161">
                <a:moveTo>
                  <a:pt x="0" y="0"/>
                </a:moveTo>
                <a:lnTo>
                  <a:pt x="3251160" y="0"/>
                </a:lnTo>
                <a:lnTo>
                  <a:pt x="3251160" y="4843442"/>
                </a:lnTo>
                <a:lnTo>
                  <a:pt x="0" y="4843442"/>
                </a:lnTo>
                <a:lnTo>
                  <a:pt x="0" y="0"/>
                </a:lnTo>
                <a:close/>
              </a:path>
            </a:pathLst>
          </a:custGeom>
          <a:blipFill>
            <a:blip r:embed="rId5"/>
            <a:stretch>
              <a:fillRect l="0" t="0" r="0" b="0"/>
            </a:stretch>
          </a:blipFill>
        </p:spPr>
      </p:sp>
      <p:sp>
        <p:nvSpPr>
          <p:cNvPr name="TextBox 8" id="8"/>
          <p:cNvSpPr txBox="true"/>
          <p:nvPr/>
        </p:nvSpPr>
        <p:spPr>
          <a:xfrm rot="0">
            <a:off x="1197340" y="7998917"/>
            <a:ext cx="3943839" cy="1259383"/>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Danendra Mahardika P.U</a:t>
            </a:r>
          </a:p>
        </p:txBody>
      </p:sp>
      <p:sp>
        <p:nvSpPr>
          <p:cNvPr name="TextBox 9" id="9"/>
          <p:cNvSpPr txBox="true"/>
          <p:nvPr/>
        </p:nvSpPr>
        <p:spPr>
          <a:xfrm rot="0">
            <a:off x="6813722" y="7998917"/>
            <a:ext cx="3943839" cy="622071"/>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Hanif Muslim</a:t>
            </a:r>
          </a:p>
        </p:txBody>
      </p:sp>
      <p:grpSp>
        <p:nvGrpSpPr>
          <p:cNvPr name="Group 10" id="10"/>
          <p:cNvGrpSpPr/>
          <p:nvPr/>
        </p:nvGrpSpPr>
        <p:grpSpPr>
          <a:xfrm rot="0">
            <a:off x="12433960" y="6730529"/>
            <a:ext cx="3789745" cy="1936179"/>
            <a:chOff x="0" y="0"/>
            <a:chExt cx="5052993" cy="2581573"/>
          </a:xfrm>
        </p:grpSpPr>
        <p:sp>
          <p:nvSpPr>
            <p:cNvPr name="TextBox 11" id="11"/>
            <p:cNvSpPr txBox="true"/>
            <p:nvPr/>
          </p:nvSpPr>
          <p:spPr>
            <a:xfrm rot="0">
              <a:off x="0" y="1815507"/>
              <a:ext cx="5052993" cy="766066"/>
            </a:xfrm>
            <a:prstGeom prst="rect">
              <a:avLst/>
            </a:prstGeom>
          </p:spPr>
          <p:txBody>
            <a:bodyPr anchor="t" rtlCol="false" tIns="0" lIns="0" bIns="0" rIns="0">
              <a:spAutoFit/>
            </a:bodyPr>
            <a:lstStyle/>
            <a:p>
              <a:pPr algn="l">
                <a:lnSpc>
                  <a:spcPts val="4843"/>
                </a:lnSpc>
                <a:spcBef>
                  <a:spcPct val="0"/>
                </a:spcBef>
              </a:pPr>
              <a:r>
                <a:rPr lang="en-US" sz="3459">
                  <a:solidFill>
                    <a:srgbClr val="FFFFFF"/>
                  </a:solidFill>
                  <a:latin typeface="Libre Franklin Light"/>
                  <a:ea typeface="Libre Franklin Light"/>
                  <a:cs typeface="Libre Franklin Light"/>
                  <a:sym typeface="Libre Franklin Light"/>
                </a:rPr>
                <a:t>Namira Assalwa</a:t>
              </a:r>
            </a:p>
          </p:txBody>
        </p:sp>
        <p:sp>
          <p:nvSpPr>
            <p:cNvPr name="TextBox 12" id="12"/>
            <p:cNvSpPr txBox="true"/>
            <p:nvPr/>
          </p:nvSpPr>
          <p:spPr>
            <a:xfrm rot="0">
              <a:off x="130253" y="-47625"/>
              <a:ext cx="1129583" cy="861824"/>
            </a:xfrm>
            <a:prstGeom prst="rect">
              <a:avLst/>
            </a:prstGeom>
          </p:spPr>
          <p:txBody>
            <a:bodyPr anchor="t" rtlCol="false" tIns="0" lIns="0" bIns="0" rIns="0">
              <a:spAutoFit/>
            </a:bodyPr>
            <a:lstStyle/>
            <a:p>
              <a:pPr algn="ctr">
                <a:lnSpc>
                  <a:spcPts val="5246"/>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B426B"/>
        </a:solidFill>
      </p:bgPr>
    </p:bg>
    <p:spTree>
      <p:nvGrpSpPr>
        <p:cNvPr id="1" name=""/>
        <p:cNvGrpSpPr/>
        <p:nvPr/>
      </p:nvGrpSpPr>
      <p:grpSpPr>
        <a:xfrm>
          <a:off x="0" y="0"/>
          <a:ext cx="0" cy="0"/>
          <a:chOff x="0" y="0"/>
          <a:chExt cx="0" cy="0"/>
        </a:xfrm>
      </p:grpSpPr>
      <p:sp>
        <p:nvSpPr>
          <p:cNvPr name="TextBox 2" id="2"/>
          <p:cNvSpPr txBox="true"/>
          <p:nvPr/>
        </p:nvSpPr>
        <p:spPr>
          <a:xfrm rot="0">
            <a:off x="8573873" y="881380"/>
            <a:ext cx="4857063" cy="622071"/>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Background</a:t>
            </a:r>
          </a:p>
        </p:txBody>
      </p:sp>
      <p:sp>
        <p:nvSpPr>
          <p:cNvPr name="TextBox 3" id="3"/>
          <p:cNvSpPr txBox="true"/>
          <p:nvPr/>
        </p:nvSpPr>
        <p:spPr>
          <a:xfrm rot="0">
            <a:off x="8392831" y="2831316"/>
            <a:ext cx="4857063" cy="622071"/>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System Analyst</a:t>
            </a:r>
          </a:p>
        </p:txBody>
      </p:sp>
      <p:sp>
        <p:nvSpPr>
          <p:cNvPr name="TextBox 4" id="4"/>
          <p:cNvSpPr txBox="true"/>
          <p:nvPr/>
        </p:nvSpPr>
        <p:spPr>
          <a:xfrm rot="0">
            <a:off x="8573873" y="6496381"/>
            <a:ext cx="4857063" cy="1259383"/>
          </a:xfrm>
          <a:prstGeom prst="rect">
            <a:avLst/>
          </a:prstGeom>
        </p:spPr>
        <p:txBody>
          <a:bodyPr anchor="t" rtlCol="false" tIns="0" lIns="0" bIns="0" rIns="0">
            <a:spAutoFit/>
          </a:bodyPr>
          <a:lstStyle/>
          <a:p>
            <a:pPr algn="l">
              <a:lnSpc>
                <a:spcPts val="5040"/>
              </a:lnSpc>
            </a:pPr>
            <a:r>
              <a:rPr lang="en-US" sz="3600">
                <a:solidFill>
                  <a:srgbClr val="FFFFFF"/>
                </a:solidFill>
                <a:latin typeface="Libre Franklin Light"/>
                <a:ea typeface="Libre Franklin Light"/>
                <a:cs typeface="Libre Franklin Light"/>
                <a:sym typeface="Libre Franklin Light"/>
              </a:rPr>
              <a:t>Source Code</a:t>
            </a:r>
          </a:p>
          <a:p>
            <a:pPr algn="l">
              <a:lnSpc>
                <a:spcPts val="5039"/>
              </a:lnSpc>
              <a:spcBef>
                <a:spcPct val="0"/>
              </a:spcBef>
            </a:pPr>
          </a:p>
        </p:txBody>
      </p:sp>
      <p:sp>
        <p:nvSpPr>
          <p:cNvPr name="TextBox 5" id="5"/>
          <p:cNvSpPr txBox="true"/>
          <p:nvPr/>
        </p:nvSpPr>
        <p:spPr>
          <a:xfrm rot="0">
            <a:off x="608153" y="503744"/>
            <a:ext cx="6764092" cy="2676708"/>
          </a:xfrm>
          <a:prstGeom prst="rect">
            <a:avLst/>
          </a:prstGeom>
        </p:spPr>
        <p:txBody>
          <a:bodyPr anchor="t" rtlCol="false" tIns="0" lIns="0" bIns="0" rIns="0">
            <a:spAutoFit/>
          </a:bodyPr>
          <a:lstStyle/>
          <a:p>
            <a:pPr algn="l">
              <a:lnSpc>
                <a:spcPts val="10560"/>
              </a:lnSpc>
            </a:pPr>
            <a:r>
              <a:rPr lang="en-US" sz="8800" b="true">
                <a:solidFill>
                  <a:srgbClr val="76D2AD"/>
                </a:solidFill>
                <a:latin typeface="Libre Franklin Bold"/>
                <a:ea typeface="Libre Franklin Bold"/>
                <a:cs typeface="Libre Franklin Bold"/>
                <a:sym typeface="Libre Franklin Bold"/>
              </a:rPr>
              <a:t>Table of</a:t>
            </a:r>
          </a:p>
          <a:p>
            <a:pPr algn="l">
              <a:lnSpc>
                <a:spcPts val="10559"/>
              </a:lnSpc>
            </a:pPr>
            <a:r>
              <a:rPr lang="en-US" sz="8799" b="true">
                <a:solidFill>
                  <a:srgbClr val="76D2AD"/>
                </a:solidFill>
                <a:latin typeface="Libre Franklin Bold"/>
                <a:ea typeface="Libre Franklin Bold"/>
                <a:cs typeface="Libre Franklin Bold"/>
                <a:sym typeface="Libre Franklin Bold"/>
              </a:rPr>
              <a:t>Content</a:t>
            </a:r>
          </a:p>
        </p:txBody>
      </p:sp>
      <p:pic>
        <p:nvPicPr>
          <p:cNvPr name="Picture 6" id="6"/>
          <p:cNvPicPr>
            <a:picLocks noChangeAspect="true"/>
          </p:cNvPicPr>
          <p:nvPr/>
        </p:nvPicPr>
        <p:blipFill>
          <a:blip r:embed="rId2"/>
          <a:srcRect l="0" t="0" r="0" b="0"/>
          <a:stretch>
            <a:fillRect/>
          </a:stretch>
        </p:blipFill>
        <p:spPr>
          <a:xfrm flipH="false" flipV="false" rot="-154508">
            <a:off x="6328631" y="675596"/>
            <a:ext cx="1669904" cy="1669904"/>
          </a:xfrm>
          <a:prstGeom prst="rect">
            <a:avLst/>
          </a:prstGeom>
        </p:spPr>
      </p:pic>
      <p:pic>
        <p:nvPicPr>
          <p:cNvPr name="Picture 7" id="7"/>
          <p:cNvPicPr>
            <a:picLocks noChangeAspect="true"/>
          </p:cNvPicPr>
          <p:nvPr/>
        </p:nvPicPr>
        <p:blipFill>
          <a:blip r:embed="rId2"/>
          <a:srcRect l="0" t="0" r="0" b="0"/>
          <a:stretch>
            <a:fillRect/>
          </a:stretch>
        </p:blipFill>
        <p:spPr>
          <a:xfrm flipH="false" flipV="false" rot="0">
            <a:off x="6045993" y="6305881"/>
            <a:ext cx="1669904" cy="1669904"/>
          </a:xfrm>
          <a:prstGeom prst="rect">
            <a:avLst/>
          </a:prstGeom>
        </p:spPr>
      </p:pic>
      <p:pic>
        <p:nvPicPr>
          <p:cNvPr name="Picture 8" id="8"/>
          <p:cNvPicPr>
            <a:picLocks noChangeAspect="true"/>
          </p:cNvPicPr>
          <p:nvPr/>
        </p:nvPicPr>
        <p:blipFill>
          <a:blip r:embed="rId2"/>
          <a:srcRect l="0" t="0" r="0" b="0"/>
          <a:stretch>
            <a:fillRect/>
          </a:stretch>
        </p:blipFill>
        <p:spPr>
          <a:xfrm flipH="false" flipV="false" rot="0">
            <a:off x="6009322" y="2644417"/>
            <a:ext cx="1669904" cy="1669904"/>
          </a:xfrm>
          <a:prstGeom prst="rect">
            <a:avLst/>
          </a:prstGeom>
        </p:spPr>
      </p:pic>
      <p:pic>
        <p:nvPicPr>
          <p:cNvPr name="Picture 9" id="9"/>
          <p:cNvPicPr>
            <a:picLocks noChangeAspect="true"/>
          </p:cNvPicPr>
          <p:nvPr/>
        </p:nvPicPr>
        <p:blipFill>
          <a:blip r:embed="rId2"/>
          <a:srcRect l="0" t="0" r="0" b="0"/>
          <a:stretch>
            <a:fillRect/>
          </a:stretch>
        </p:blipFill>
        <p:spPr>
          <a:xfrm flipH="false" flipV="false" rot="115084">
            <a:off x="6036800" y="4608499"/>
            <a:ext cx="1669904" cy="1669904"/>
          </a:xfrm>
          <a:prstGeom prst="rect">
            <a:avLst/>
          </a:prstGeom>
        </p:spPr>
      </p:pic>
      <p:sp>
        <p:nvSpPr>
          <p:cNvPr name="TextBox 10" id="10"/>
          <p:cNvSpPr txBox="true"/>
          <p:nvPr/>
        </p:nvSpPr>
        <p:spPr>
          <a:xfrm rot="0">
            <a:off x="8573873" y="4777362"/>
            <a:ext cx="4857063" cy="622071"/>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Flowchart</a:t>
            </a:r>
          </a:p>
        </p:txBody>
      </p:sp>
      <p:sp>
        <p:nvSpPr>
          <p:cNvPr name="TextBox 11" id="11"/>
          <p:cNvSpPr txBox="true"/>
          <p:nvPr/>
        </p:nvSpPr>
        <p:spPr>
          <a:xfrm rot="0">
            <a:off x="8573873" y="7133693"/>
            <a:ext cx="4857063" cy="622071"/>
          </a:xfrm>
          <a:prstGeom prst="rect">
            <a:avLst/>
          </a:prstGeom>
        </p:spPr>
        <p:txBody>
          <a:bodyPr anchor="t" rtlCol="false" tIns="0" lIns="0" bIns="0" rIns="0">
            <a:spAutoFit/>
          </a:bodyPr>
          <a:lstStyle/>
          <a:p>
            <a:pPr algn="l">
              <a:lnSpc>
                <a:spcPts val="5039"/>
              </a:lnSpc>
              <a:spcBef>
                <a:spcPct val="0"/>
              </a:spcBef>
            </a:pPr>
            <a:r>
              <a:rPr lang="en-US" sz="3599">
                <a:solidFill>
                  <a:srgbClr val="FFFFFF"/>
                </a:solidFill>
                <a:latin typeface="Libre Franklin Light"/>
                <a:ea typeface="Libre Franklin Light"/>
                <a:cs typeface="Libre Franklin Light"/>
                <a:sym typeface="Libre Franklin Light"/>
              </a:rPr>
              <a:t> &amp; Output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76D2AD"/>
        </a:solidFill>
      </p:bgPr>
    </p:bg>
    <p:spTree>
      <p:nvGrpSpPr>
        <p:cNvPr id="1" name=""/>
        <p:cNvGrpSpPr/>
        <p:nvPr/>
      </p:nvGrpSpPr>
      <p:grpSpPr>
        <a:xfrm>
          <a:off x="0" y="0"/>
          <a:ext cx="0" cy="0"/>
          <a:chOff x="0" y="0"/>
          <a:chExt cx="0" cy="0"/>
        </a:xfrm>
      </p:grpSpPr>
      <p:sp>
        <p:nvSpPr>
          <p:cNvPr name="TextBox 2" id="2"/>
          <p:cNvSpPr txBox="true"/>
          <p:nvPr/>
        </p:nvSpPr>
        <p:spPr>
          <a:xfrm rot="0">
            <a:off x="838981" y="748555"/>
            <a:ext cx="9116986" cy="2676708"/>
          </a:xfrm>
          <a:prstGeom prst="rect">
            <a:avLst/>
          </a:prstGeom>
        </p:spPr>
        <p:txBody>
          <a:bodyPr anchor="t" rtlCol="false" tIns="0" lIns="0" bIns="0" rIns="0">
            <a:spAutoFit/>
          </a:bodyPr>
          <a:lstStyle/>
          <a:p>
            <a:pPr algn="l">
              <a:lnSpc>
                <a:spcPts val="10560"/>
              </a:lnSpc>
            </a:pPr>
            <a:r>
              <a:rPr lang="en-US" sz="8800" b="true">
                <a:solidFill>
                  <a:srgbClr val="FFFFFF"/>
                </a:solidFill>
                <a:latin typeface="Libre Franklin Bold"/>
                <a:ea typeface="Libre Franklin Bold"/>
                <a:cs typeface="Libre Franklin Bold"/>
                <a:sym typeface="Libre Franklin Bold"/>
              </a:rPr>
              <a:t>BACKGROUND</a:t>
            </a:r>
          </a:p>
          <a:p>
            <a:pPr algn="l">
              <a:lnSpc>
                <a:spcPts val="10559"/>
              </a:lnSpc>
            </a:pPr>
          </a:p>
        </p:txBody>
      </p:sp>
      <p:sp>
        <p:nvSpPr>
          <p:cNvPr name="TextBox 3" id="3"/>
          <p:cNvSpPr txBox="true"/>
          <p:nvPr/>
        </p:nvSpPr>
        <p:spPr>
          <a:xfrm rot="0">
            <a:off x="838981" y="2039284"/>
            <a:ext cx="14038060" cy="5179060"/>
          </a:xfrm>
          <a:prstGeom prst="rect">
            <a:avLst/>
          </a:prstGeom>
        </p:spPr>
        <p:txBody>
          <a:bodyPr anchor="t" rtlCol="false" tIns="0" lIns="0" bIns="0" rIns="0">
            <a:spAutoFit/>
          </a:bodyPr>
          <a:lstStyle/>
          <a:p>
            <a:pPr algn="just">
              <a:lnSpc>
                <a:spcPts val="3640"/>
              </a:lnSpc>
            </a:pPr>
            <a:r>
              <a:rPr lang="en-US" sz="2600">
                <a:solidFill>
                  <a:srgbClr val="FFFFFF"/>
                </a:solidFill>
                <a:latin typeface="Libre Franklin Light"/>
                <a:ea typeface="Libre Franklin Light"/>
                <a:cs typeface="Libre Franklin Light"/>
                <a:sym typeface="Libre Franklin Light"/>
              </a:rPr>
              <a:t>The barbershop's background is related to a long tradition of hair and facial care services, which has existed since ancient times. In the beginning, barbershops functioned as a place for men to get haircuts, shaving and other personal care services. In medieval Europe, barbershops also served as places of light medical care, with barbers performing procedures such as the treatment of wounds. The red and white colors on barbershop poles, for example, represent blood and bandages, reflecting the association between barbering and medical services. Over time, barbershops evolved into social places, where men could gather, chat and swap stories. In recent years, the modern barbershop trend has emerged, combining traditional elements with contemporary style, making them more than just a place to get a haircut, but also a comfortable and stylish community space.</a:t>
            </a:r>
          </a:p>
          <a:p>
            <a:pPr algn="l">
              <a:lnSpc>
                <a:spcPts val="50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6D2AD"/>
        </a:solidFill>
      </p:bgPr>
    </p:bg>
    <p:spTree>
      <p:nvGrpSpPr>
        <p:cNvPr id="1" name=""/>
        <p:cNvGrpSpPr/>
        <p:nvPr/>
      </p:nvGrpSpPr>
      <p:grpSpPr>
        <a:xfrm>
          <a:off x="0" y="0"/>
          <a:ext cx="0" cy="0"/>
          <a:chOff x="0" y="0"/>
          <a:chExt cx="0" cy="0"/>
        </a:xfrm>
      </p:grpSpPr>
      <p:sp>
        <p:nvSpPr>
          <p:cNvPr name="TextBox 2" id="2"/>
          <p:cNvSpPr txBox="true"/>
          <p:nvPr/>
        </p:nvSpPr>
        <p:spPr>
          <a:xfrm rot="0">
            <a:off x="1028700" y="417382"/>
            <a:ext cx="15092283" cy="2676708"/>
          </a:xfrm>
          <a:prstGeom prst="rect">
            <a:avLst/>
          </a:prstGeom>
        </p:spPr>
        <p:txBody>
          <a:bodyPr anchor="t" rtlCol="false" tIns="0" lIns="0" bIns="0" rIns="0">
            <a:spAutoFit/>
          </a:bodyPr>
          <a:lstStyle/>
          <a:p>
            <a:pPr algn="l">
              <a:lnSpc>
                <a:spcPts val="10560"/>
              </a:lnSpc>
            </a:pPr>
            <a:r>
              <a:rPr lang="en-US" sz="8800" b="true">
                <a:solidFill>
                  <a:srgbClr val="FFFFFF"/>
                </a:solidFill>
                <a:latin typeface="Libre Franklin Bold"/>
                <a:ea typeface="Libre Franklin Bold"/>
                <a:cs typeface="Libre Franklin Bold"/>
                <a:sym typeface="Libre Franklin Bold"/>
              </a:rPr>
              <a:t>SYSTEM ANALYST</a:t>
            </a:r>
          </a:p>
          <a:p>
            <a:pPr algn="l">
              <a:lnSpc>
                <a:spcPts val="10560"/>
              </a:lnSpc>
            </a:pPr>
          </a:p>
        </p:txBody>
      </p:sp>
      <p:sp>
        <p:nvSpPr>
          <p:cNvPr name="TextBox 3" id="3"/>
          <p:cNvSpPr txBox="true"/>
          <p:nvPr/>
        </p:nvSpPr>
        <p:spPr>
          <a:xfrm rot="0">
            <a:off x="3217257" y="2544744"/>
            <a:ext cx="14362393" cy="3656965"/>
          </a:xfrm>
          <a:prstGeom prst="rect">
            <a:avLst/>
          </a:prstGeom>
        </p:spPr>
        <p:txBody>
          <a:bodyPr anchor="t" rtlCol="false" tIns="0" lIns="0" bIns="0" rIns="0">
            <a:spAutoFit/>
          </a:bodyPr>
          <a:lstStyle/>
          <a:p>
            <a:pPr algn="l">
              <a:lnSpc>
                <a:spcPts val="4480"/>
              </a:lnSpc>
            </a:pPr>
            <a:r>
              <a:rPr lang="en-US" sz="3200" b="true">
                <a:solidFill>
                  <a:srgbClr val="FFFFFF"/>
                </a:solidFill>
                <a:latin typeface="Libre Franklin Bold"/>
                <a:ea typeface="Libre Franklin Bold"/>
                <a:cs typeface="Libre Franklin Bold"/>
                <a:sym typeface="Libre Franklin Bold"/>
              </a:rPr>
              <a:t>System Summary :</a:t>
            </a:r>
          </a:p>
          <a:p>
            <a:pPr algn="l">
              <a:lnSpc>
                <a:spcPts val="3919"/>
              </a:lnSpc>
            </a:pPr>
            <a:r>
              <a:rPr lang="en-US" sz="2799">
                <a:solidFill>
                  <a:srgbClr val="FFFFFF"/>
                </a:solidFill>
                <a:latin typeface="Libre Franklin Light"/>
                <a:ea typeface="Libre Franklin Light"/>
                <a:cs typeface="Libre Franklin Light"/>
                <a:sym typeface="Libre Franklin Light"/>
              </a:rPr>
              <a:t>A barbershop is a specialized establishment primarily offering hair grooming services for men, typically including haircuts, shaving, beard trims, and other related services. Historically, barbershops also served as social hubs where men would gather to chat, exchange news, and relax. The atmosphere often has a nostalgic, community-oriented vibe, blending traditional barbering techniques with modern trends.</a:t>
            </a:r>
          </a:p>
          <a:p>
            <a:pPr algn="l">
              <a:lnSpc>
                <a:spcPts val="5040"/>
              </a:lnSpc>
              <a:spcBef>
                <a:spcPct val="0"/>
              </a:spcBef>
            </a:pPr>
          </a:p>
        </p:txBody>
      </p:sp>
      <p:pic>
        <p:nvPicPr>
          <p:cNvPr name="Picture 4" id="4"/>
          <p:cNvPicPr>
            <a:picLocks noChangeAspect="true"/>
          </p:cNvPicPr>
          <p:nvPr/>
        </p:nvPicPr>
        <p:blipFill>
          <a:blip r:embed="rId2"/>
          <a:srcRect l="0" t="0" r="0" b="0"/>
          <a:stretch>
            <a:fillRect/>
          </a:stretch>
        </p:blipFill>
        <p:spPr>
          <a:xfrm flipH="false" flipV="false" rot="-10800000">
            <a:off x="788508" y="2550727"/>
            <a:ext cx="1943910" cy="1855836"/>
          </a:xfrm>
          <a:prstGeom prst="rect">
            <a:avLst/>
          </a:prstGeom>
        </p:spPr>
      </p:pic>
      <p:sp>
        <p:nvSpPr>
          <p:cNvPr name="TextBox 5" id="5"/>
          <p:cNvSpPr txBox="true"/>
          <p:nvPr/>
        </p:nvSpPr>
        <p:spPr>
          <a:xfrm rot="0">
            <a:off x="3217257" y="6073439"/>
            <a:ext cx="14362393" cy="3656965"/>
          </a:xfrm>
          <a:prstGeom prst="rect">
            <a:avLst/>
          </a:prstGeom>
        </p:spPr>
        <p:txBody>
          <a:bodyPr anchor="t" rtlCol="false" tIns="0" lIns="0" bIns="0" rIns="0">
            <a:spAutoFit/>
          </a:bodyPr>
          <a:lstStyle/>
          <a:p>
            <a:pPr algn="l">
              <a:lnSpc>
                <a:spcPts val="4480"/>
              </a:lnSpc>
            </a:pPr>
            <a:r>
              <a:rPr lang="en-US" sz="3200" b="true">
                <a:solidFill>
                  <a:srgbClr val="FFFFFF"/>
                </a:solidFill>
                <a:latin typeface="Libre Franklin Bold"/>
                <a:ea typeface="Libre Franklin Bold"/>
                <a:cs typeface="Libre Franklin Bold"/>
                <a:sym typeface="Libre Franklin Bold"/>
              </a:rPr>
              <a:t>System processes :        </a:t>
            </a:r>
          </a:p>
          <a:p>
            <a:pPr algn="l">
              <a:lnSpc>
                <a:spcPts val="3919"/>
              </a:lnSpc>
            </a:pPr>
            <a:r>
              <a:rPr lang="en-US" sz="2799">
                <a:solidFill>
                  <a:srgbClr val="FFFFFF"/>
                </a:solidFill>
                <a:latin typeface="Libre Franklin"/>
                <a:ea typeface="Libre Franklin"/>
                <a:cs typeface="Libre Franklin"/>
                <a:sym typeface="Libre Franklin"/>
              </a:rPr>
              <a:t>A barbershop processor generally refers to the system or tools used within a barbershop to streamline operations and improve customer experience. This can include software systems, digital tools, and equipment that assist with managing data, payments, and customer interactions. </a:t>
            </a:r>
          </a:p>
          <a:p>
            <a:pPr algn="l">
              <a:lnSpc>
                <a:spcPts val="3919"/>
              </a:lnSpc>
            </a:pPr>
          </a:p>
          <a:p>
            <a:pPr algn="l">
              <a:lnSpc>
                <a:spcPts val="5040"/>
              </a:lnSpc>
              <a:spcBef>
                <a:spcPct val="0"/>
              </a:spcBef>
            </a:pPr>
          </a:p>
        </p:txBody>
      </p:sp>
      <p:pic>
        <p:nvPicPr>
          <p:cNvPr name="Picture 6" id="6"/>
          <p:cNvPicPr>
            <a:picLocks noChangeAspect="true"/>
          </p:cNvPicPr>
          <p:nvPr/>
        </p:nvPicPr>
        <p:blipFill>
          <a:blip r:embed="rId2"/>
          <a:srcRect l="0" t="0" r="0" b="0"/>
          <a:stretch>
            <a:fillRect/>
          </a:stretch>
        </p:blipFill>
        <p:spPr>
          <a:xfrm flipH="false" flipV="false" rot="-10800000">
            <a:off x="603629" y="6079422"/>
            <a:ext cx="1943910" cy="1855836"/>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6D2AD"/>
        </a:solidFill>
      </p:bgPr>
    </p:bg>
    <p:spTree>
      <p:nvGrpSpPr>
        <p:cNvPr id="1" name=""/>
        <p:cNvGrpSpPr/>
        <p:nvPr/>
      </p:nvGrpSpPr>
      <p:grpSpPr>
        <a:xfrm>
          <a:off x="0" y="0"/>
          <a:ext cx="0" cy="0"/>
          <a:chOff x="0" y="0"/>
          <a:chExt cx="0" cy="0"/>
        </a:xfrm>
      </p:grpSpPr>
      <p:sp>
        <p:nvSpPr>
          <p:cNvPr name="TextBox 2" id="2"/>
          <p:cNvSpPr txBox="true"/>
          <p:nvPr/>
        </p:nvSpPr>
        <p:spPr>
          <a:xfrm rot="0">
            <a:off x="1028700" y="417382"/>
            <a:ext cx="15092283" cy="2676708"/>
          </a:xfrm>
          <a:prstGeom prst="rect">
            <a:avLst/>
          </a:prstGeom>
        </p:spPr>
        <p:txBody>
          <a:bodyPr anchor="t" rtlCol="false" tIns="0" lIns="0" bIns="0" rIns="0">
            <a:spAutoFit/>
          </a:bodyPr>
          <a:lstStyle/>
          <a:p>
            <a:pPr algn="l">
              <a:lnSpc>
                <a:spcPts val="10560"/>
              </a:lnSpc>
            </a:pPr>
            <a:r>
              <a:rPr lang="en-US" sz="8800" b="true">
                <a:solidFill>
                  <a:srgbClr val="FFFFFF"/>
                </a:solidFill>
                <a:latin typeface="Libre Franklin Bold"/>
                <a:ea typeface="Libre Franklin Bold"/>
                <a:cs typeface="Libre Franklin Bold"/>
                <a:sym typeface="Libre Franklin Bold"/>
              </a:rPr>
              <a:t>FLOWCHART</a:t>
            </a:r>
          </a:p>
          <a:p>
            <a:pPr algn="l">
              <a:lnSpc>
                <a:spcPts val="10560"/>
              </a:lnSpc>
            </a:pPr>
          </a:p>
        </p:txBody>
      </p:sp>
      <p:sp>
        <p:nvSpPr>
          <p:cNvPr name="TextBox 3" id="3"/>
          <p:cNvSpPr txBox="true"/>
          <p:nvPr/>
        </p:nvSpPr>
        <p:spPr>
          <a:xfrm rot="0">
            <a:off x="2475629" y="5048250"/>
            <a:ext cx="14362393" cy="3364230"/>
          </a:xfrm>
          <a:prstGeom prst="rect">
            <a:avLst/>
          </a:prstGeom>
        </p:spPr>
        <p:txBody>
          <a:bodyPr anchor="t" rtlCol="false" tIns="0" lIns="0" bIns="0" rIns="0">
            <a:spAutoFit/>
          </a:bodyPr>
          <a:lstStyle/>
          <a:p>
            <a:pPr algn="l">
              <a:lnSpc>
                <a:spcPts val="6719"/>
              </a:lnSpc>
            </a:pPr>
            <a:r>
              <a:rPr lang="en-US" sz="4800">
                <a:solidFill>
                  <a:srgbClr val="FFFFFF"/>
                </a:solidFill>
                <a:latin typeface="Libre Franklin Light"/>
                <a:ea typeface="Libre Franklin Light"/>
                <a:cs typeface="Libre Franklin Light"/>
                <a:sym typeface="Libre Franklin Light"/>
              </a:rPr>
              <a:t>Link</a:t>
            </a:r>
          </a:p>
          <a:p>
            <a:pPr algn="l">
              <a:lnSpc>
                <a:spcPts val="6719"/>
              </a:lnSpc>
              <a:spcBef>
                <a:spcPct val="0"/>
              </a:spcBef>
            </a:pPr>
            <a:r>
              <a:rPr lang="en-US" sz="4800">
                <a:solidFill>
                  <a:srgbClr val="FFFFFF"/>
                </a:solidFill>
                <a:latin typeface="Libre Franklin Light"/>
                <a:ea typeface="Libre Franklin Light"/>
                <a:cs typeface="Libre Franklin Light"/>
                <a:sym typeface="Libre Franklin Light"/>
              </a:rPr>
              <a:t>https://app.diagrams.net/#G1l3bd8_fNxf8vyBcQ7y1qEWM2v5bbYPtU#%7B%22pageId%22%3A%22ON47Uc7PaSrSVOudWd6-%22%7D</a:t>
            </a:r>
          </a:p>
        </p:txBody>
      </p:sp>
      <p:pic>
        <p:nvPicPr>
          <p:cNvPr name="Picture 4" id="4"/>
          <p:cNvPicPr>
            <a:picLocks noChangeAspect="true"/>
          </p:cNvPicPr>
          <p:nvPr/>
        </p:nvPicPr>
        <p:blipFill>
          <a:blip r:embed="rId2"/>
          <a:srcRect l="0" t="0" r="0" b="0"/>
          <a:stretch>
            <a:fillRect/>
          </a:stretch>
        </p:blipFill>
        <p:spPr>
          <a:xfrm flipH="false" flipV="false" rot="-10800000">
            <a:off x="319903" y="3806693"/>
            <a:ext cx="1943910" cy="1855836"/>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6D2AD"/>
        </a:solidFill>
      </p:bgPr>
    </p:bg>
    <p:spTree>
      <p:nvGrpSpPr>
        <p:cNvPr id="1" name=""/>
        <p:cNvGrpSpPr/>
        <p:nvPr/>
      </p:nvGrpSpPr>
      <p:grpSpPr>
        <a:xfrm>
          <a:off x="0" y="0"/>
          <a:ext cx="0" cy="0"/>
          <a:chOff x="0" y="0"/>
          <a:chExt cx="0" cy="0"/>
        </a:xfrm>
      </p:grpSpPr>
      <p:sp>
        <p:nvSpPr>
          <p:cNvPr name="TextBox 2" id="2"/>
          <p:cNvSpPr txBox="true"/>
          <p:nvPr/>
        </p:nvSpPr>
        <p:spPr>
          <a:xfrm rot="0">
            <a:off x="1028700" y="417382"/>
            <a:ext cx="15092283" cy="5353415"/>
          </a:xfrm>
          <a:prstGeom prst="rect">
            <a:avLst/>
          </a:prstGeom>
        </p:spPr>
        <p:txBody>
          <a:bodyPr anchor="t" rtlCol="false" tIns="0" lIns="0" bIns="0" rIns="0">
            <a:spAutoFit/>
          </a:bodyPr>
          <a:lstStyle/>
          <a:p>
            <a:pPr algn="l">
              <a:lnSpc>
                <a:spcPts val="10560"/>
              </a:lnSpc>
            </a:pPr>
            <a:r>
              <a:rPr lang="en-US" sz="8800" b="true">
                <a:solidFill>
                  <a:srgbClr val="FFFFFF"/>
                </a:solidFill>
                <a:latin typeface="Libre Franklin Bold"/>
                <a:ea typeface="Libre Franklin Bold"/>
                <a:cs typeface="Libre Franklin Bold"/>
                <a:sym typeface="Libre Franklin Bold"/>
              </a:rPr>
              <a:t>SOURCE CODE &amp; OUTPUT PROGRAM</a:t>
            </a:r>
          </a:p>
          <a:p>
            <a:pPr algn="l">
              <a:lnSpc>
                <a:spcPts val="10560"/>
              </a:lnSpc>
            </a:pPr>
          </a:p>
          <a:p>
            <a:pPr algn="l">
              <a:lnSpc>
                <a:spcPts val="10560"/>
              </a:lnSpc>
            </a:pPr>
          </a:p>
        </p:txBody>
      </p:sp>
      <p:sp>
        <p:nvSpPr>
          <p:cNvPr name="TextBox 3" id="3"/>
          <p:cNvSpPr txBox="true"/>
          <p:nvPr/>
        </p:nvSpPr>
        <p:spPr>
          <a:xfrm rot="0">
            <a:off x="2704431" y="7114204"/>
            <a:ext cx="14362393" cy="821055"/>
          </a:xfrm>
          <a:prstGeom prst="rect">
            <a:avLst/>
          </a:prstGeom>
        </p:spPr>
        <p:txBody>
          <a:bodyPr anchor="t" rtlCol="false" tIns="0" lIns="0" bIns="0" rIns="0">
            <a:spAutoFit/>
          </a:bodyPr>
          <a:lstStyle/>
          <a:p>
            <a:pPr algn="l">
              <a:lnSpc>
                <a:spcPts val="6719"/>
              </a:lnSpc>
              <a:spcBef>
                <a:spcPct val="0"/>
              </a:spcBef>
            </a:pPr>
            <a:r>
              <a:rPr lang="en-US" sz="4800" u="sng">
                <a:solidFill>
                  <a:srgbClr val="FFFFFF"/>
                </a:solidFill>
                <a:latin typeface="Libre Franklin Light"/>
                <a:ea typeface="Libre Franklin Light"/>
                <a:cs typeface="Libre Franklin Light"/>
                <a:sym typeface="Libre Franklin Light"/>
              </a:rPr>
              <a:t>Link</a:t>
            </a:r>
          </a:p>
        </p:txBody>
      </p:sp>
      <p:pic>
        <p:nvPicPr>
          <p:cNvPr name="Picture 4" id="4"/>
          <p:cNvPicPr>
            <a:picLocks noChangeAspect="true"/>
          </p:cNvPicPr>
          <p:nvPr/>
        </p:nvPicPr>
        <p:blipFill>
          <a:blip r:embed="rId2"/>
          <a:srcRect l="0" t="0" r="0" b="0"/>
          <a:stretch>
            <a:fillRect/>
          </a:stretch>
        </p:blipFill>
        <p:spPr>
          <a:xfrm flipH="false" flipV="false" rot="-10800000">
            <a:off x="603629" y="6079422"/>
            <a:ext cx="1943910" cy="1855836"/>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6D2A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1302517">
            <a:off x="10908691" y="7983433"/>
            <a:ext cx="9159821" cy="3999014"/>
          </a:xfrm>
          <a:prstGeom prst="rect">
            <a:avLst/>
          </a:prstGeom>
        </p:spPr>
      </p:pic>
      <p:grpSp>
        <p:nvGrpSpPr>
          <p:cNvPr name="Group 3" id="3"/>
          <p:cNvGrpSpPr/>
          <p:nvPr/>
        </p:nvGrpSpPr>
        <p:grpSpPr>
          <a:xfrm rot="0">
            <a:off x="2187076" y="3612194"/>
            <a:ext cx="13913847" cy="2747702"/>
            <a:chOff x="0" y="0"/>
            <a:chExt cx="18551796" cy="3663603"/>
          </a:xfrm>
        </p:grpSpPr>
        <p:sp>
          <p:nvSpPr>
            <p:cNvPr name="TextBox 4" id="4"/>
            <p:cNvSpPr txBox="true"/>
            <p:nvPr/>
          </p:nvSpPr>
          <p:spPr>
            <a:xfrm rot="0">
              <a:off x="0" y="104775"/>
              <a:ext cx="18551796" cy="2329015"/>
            </a:xfrm>
            <a:prstGeom prst="rect">
              <a:avLst/>
            </a:prstGeom>
          </p:spPr>
          <p:txBody>
            <a:bodyPr anchor="t" rtlCol="false" tIns="0" lIns="0" bIns="0" rIns="0">
              <a:spAutoFit/>
            </a:bodyPr>
            <a:lstStyle/>
            <a:p>
              <a:pPr algn="ctr" marL="0" indent="0" lvl="0">
                <a:lnSpc>
                  <a:spcPts val="13200"/>
                </a:lnSpc>
                <a:spcBef>
                  <a:spcPct val="0"/>
                </a:spcBef>
              </a:pPr>
              <a:r>
                <a:rPr lang="en-US" b="true" sz="11999">
                  <a:solidFill>
                    <a:srgbClr val="FFFFFF"/>
                  </a:solidFill>
                  <a:latin typeface="Libre Franklin Bold"/>
                  <a:ea typeface="Libre Franklin Bold"/>
                  <a:cs typeface="Libre Franklin Bold"/>
                  <a:sym typeface="Libre Franklin Bold"/>
                </a:rPr>
                <a:t>Thank you</a:t>
              </a:r>
            </a:p>
          </p:txBody>
        </p:sp>
        <p:sp>
          <p:nvSpPr>
            <p:cNvPr name="TextBox 5" id="5"/>
            <p:cNvSpPr txBox="true"/>
            <p:nvPr/>
          </p:nvSpPr>
          <p:spPr>
            <a:xfrm rot="0">
              <a:off x="1115439" y="2859575"/>
              <a:ext cx="16320918" cy="804028"/>
            </a:xfrm>
            <a:prstGeom prst="rect">
              <a:avLst/>
            </a:prstGeom>
          </p:spPr>
          <p:txBody>
            <a:bodyPr anchor="t" rtlCol="false" tIns="0" lIns="0" bIns="0" rIns="0">
              <a:spAutoFit/>
            </a:bodyPr>
            <a:lstStyle/>
            <a:p>
              <a:pPr algn="ctr">
                <a:lnSpc>
                  <a:spcPts val="5039"/>
                </a:lnSpc>
                <a:spcBef>
                  <a:spcPct val="0"/>
                </a:spcBef>
              </a:pPr>
            </a:p>
          </p:txBody>
        </p:sp>
      </p:grpSp>
      <p:pic>
        <p:nvPicPr>
          <p:cNvPr name="Picture 6" id="6"/>
          <p:cNvPicPr>
            <a:picLocks noChangeAspect="true"/>
          </p:cNvPicPr>
          <p:nvPr/>
        </p:nvPicPr>
        <p:blipFill>
          <a:blip r:embed="rId3"/>
          <a:srcRect l="0" t="0" r="0" b="0"/>
          <a:stretch>
            <a:fillRect/>
          </a:stretch>
        </p:blipFill>
        <p:spPr>
          <a:xfrm flipH="false" flipV="false" rot="0">
            <a:off x="-1288053" y="-595717"/>
            <a:ext cx="10248900" cy="11914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DAGUWzgiXF0</dc:identifier>
  <dcterms:modified xsi:type="dcterms:W3CDTF">2011-08-01T06:04:30Z</dcterms:modified>
  <cp:revision>1</cp:revision>
  <dc:title>Group 10 Project </dc:title>
</cp:coreProperties>
</file>